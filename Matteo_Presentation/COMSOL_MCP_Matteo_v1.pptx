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063240"/>
            <a:ext cx="1828800" cy="73152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Teaching Claude to Run COMSOL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A0AAAD"/>
                </a:solidFill>
                <a:latin typeface="Calibri"/>
              </a:rPr>
              <a:t>A New Tool for AI-Assisted Reactor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Jui Junnarkar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0AAAD"/>
                </a:solidFill>
                <a:latin typeface="Calibri"/>
              </a:rPr>
              <a:t>Rice University  |  Pasquali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AAD"/>
                </a:solidFill>
                <a:latin typeface="Calibri"/>
              </a:rPr>
              <a:t>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long does a COMSOL parametric study take today?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463040"/>
            <a:ext cx="36576" cy="306324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536192"/>
            <a:ext cx="219456" cy="219456"/>
          </a:xfrm>
          <a:prstGeom prst="ellipse">
            <a:avLst/>
          </a:prstGeom>
          <a:solidFill>
            <a:srgbClr val="C8911C"/>
          </a:solidFill>
          <a:ln w="127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417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5B"/>
                </a:solidFill>
                <a:latin typeface="Calibri"/>
              </a:rPr>
              <a:t>Set up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4173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  <a:latin typeface="Calibri"/>
              </a:rPr>
              <a:t>30 min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221992"/>
            <a:ext cx="219456" cy="219456"/>
          </a:xfrm>
          <a:prstGeom prst="ellipse">
            <a:avLst/>
          </a:prstGeom>
          <a:solidFill>
            <a:srgbClr val="C8911C"/>
          </a:solidFill>
          <a:ln w="127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103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5B"/>
                </a:solidFill>
                <a:latin typeface="Calibri"/>
              </a:rPr>
              <a:t>Configure physics, mesh, solver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103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  <a:latin typeface="Calibri"/>
              </a:rPr>
              <a:t>1 to 2 hours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907792"/>
            <a:ext cx="219456" cy="219456"/>
          </a:xfrm>
          <a:prstGeom prst="ellipse">
            <a:avLst/>
          </a:prstGeom>
          <a:solidFill>
            <a:srgbClr val="C8911C"/>
          </a:solidFill>
          <a:ln w="127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788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5B"/>
                </a:solidFill>
                <a:latin typeface="Calibri"/>
              </a:rPr>
              <a:t>Debug convergence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788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  <a:latin typeface="Calibri"/>
              </a:rPr>
              <a:t>hours to days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3593592"/>
            <a:ext cx="219456" cy="219456"/>
          </a:xfrm>
          <a:prstGeom prst="ellipse">
            <a:avLst/>
          </a:prstGeom>
          <a:solidFill>
            <a:srgbClr val="C8911C"/>
          </a:solidFill>
          <a:ln w="127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474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5B"/>
                </a:solidFill>
                <a:latin typeface="Calibri"/>
              </a:rPr>
              <a:t>Change gas 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4747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  <a:latin typeface="Calibri"/>
              </a:rPr>
              <a:t>3 GUI clicks + re-solve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79392"/>
            <a:ext cx="219456" cy="219456"/>
          </a:xfrm>
          <a:prstGeom prst="ellipse">
            <a:avLst/>
          </a:prstGeom>
          <a:solidFill>
            <a:srgbClr val="C8911C"/>
          </a:solidFill>
          <a:ln w="127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160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0205B"/>
                </a:solidFill>
                <a:latin typeface="Calibri"/>
              </a:rPr>
              <a:t>Repeat for 10 compositions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1605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  <a:latin typeface="Calibri"/>
              </a:rPr>
              <a:t>multiply everything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0205B"/>
                </a:solidFill>
                <a:latin typeface="Calibri"/>
              </a:rPr>
              <a:t>Most of the time is setup, not science.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if Claude could do the setup?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0AAAD"/>
                </a:solidFill>
                <a:latin typeface="Calibri"/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920240"/>
            <a:ext cx="2377440" cy="822960"/>
          </a:xfrm>
          <a:prstGeom prst="rect">
            <a:avLst/>
          </a:prstGeom>
          <a:solidFill>
            <a:srgbClr val="E8EAE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Researcher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37760" y="2148840"/>
            <a:ext cx="731520" cy="36576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920240"/>
            <a:ext cx="2377440" cy="822960"/>
          </a:xfrm>
          <a:prstGeom prst="rect">
            <a:avLst/>
          </a:prstGeom>
          <a:solidFill>
            <a:srgbClr val="E8EAE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920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COMSOL GUI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29600" y="2148840"/>
            <a:ext cx="731520" cy="36576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920240"/>
            <a:ext cx="2377440" cy="822960"/>
          </a:xfrm>
          <a:prstGeom prst="rect">
            <a:avLst/>
          </a:prstGeom>
          <a:solidFill>
            <a:srgbClr val="E8EAE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202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8911C"/>
                </a:solidFill>
                <a:latin typeface="Calibri"/>
              </a:rPr>
              <a:t>AFTER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977639"/>
            <a:ext cx="2377440" cy="822960"/>
          </a:xfrm>
          <a:prstGeom prst="rect">
            <a:avLst/>
          </a:prstGeom>
          <a:solidFill>
            <a:srgbClr val="00205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97763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Researcher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(plain English)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7760" y="4206239"/>
            <a:ext cx="731520" cy="36576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3977639"/>
            <a:ext cx="2377440" cy="822960"/>
          </a:xfrm>
          <a:prstGeom prst="rect">
            <a:avLst/>
          </a:prstGeom>
          <a:solidFill>
            <a:srgbClr val="00205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397763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Claude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229600" y="4206239"/>
            <a:ext cx="731520" cy="36576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3977639"/>
            <a:ext cx="2377440" cy="822960"/>
          </a:xfrm>
          <a:prstGeom prst="rect">
            <a:avLst/>
          </a:prstGeom>
          <a:solidFill>
            <a:srgbClr val="E8EAE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397763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0205B"/>
                </a:solidFill>
                <a:latin typeface="Calibri"/>
              </a:rPr>
              <a:t>We built the bridge that makes this 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COMSOL MCP: A Software Bridge Between AI and COMSOL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047" y="1463040"/>
            <a:ext cx="1920240" cy="1097280"/>
          </a:xfrm>
          <a:prstGeom prst="rect">
            <a:avLst/>
          </a:prstGeom>
          <a:solidFill>
            <a:srgbClr val="00205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46304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You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(plain English)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1147" y="1874520"/>
            <a:ext cx="182880" cy="27432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86887" y="1463040"/>
            <a:ext cx="1920240" cy="1097280"/>
          </a:xfrm>
          <a:prstGeom prst="rect">
            <a:avLst/>
          </a:prstGeom>
          <a:solidFill>
            <a:srgbClr val="00205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6887" y="146304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Claude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29987" y="1874520"/>
            <a:ext cx="182880" cy="27432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35727" y="1463040"/>
            <a:ext cx="1920240" cy="1097280"/>
          </a:xfrm>
          <a:prstGeom prst="rect">
            <a:avLst/>
          </a:prstGeom>
          <a:solidFill>
            <a:srgbClr val="C8911C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5727" y="146304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78827" y="1874520"/>
            <a:ext cx="182880" cy="27432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84567" y="1463040"/>
            <a:ext cx="1920240" cy="1097280"/>
          </a:xfrm>
          <a:prstGeom prst="rect">
            <a:avLst/>
          </a:prstGeom>
          <a:solidFill>
            <a:srgbClr val="A0AAAD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4567" y="146304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COMSOL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Java API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27667" y="1874520"/>
            <a:ext cx="182880" cy="274320"/>
          </a:xfrm>
          <a:prstGeom prst="rightArrow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33407" y="1463040"/>
            <a:ext cx="1920240" cy="1097280"/>
          </a:xfrm>
          <a:prstGeom prst="rect">
            <a:avLst/>
          </a:prstGeom>
          <a:solidFill>
            <a:srgbClr val="E8EAEB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3407" y="146304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205B"/>
                </a:solidFill>
                <a:latin typeface="Calibri"/>
              </a:rPr>
              <a:t>.mph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200400"/>
            <a:ext cx="10332720" cy="123444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29184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911C"/>
                </a:solidFill>
                <a:latin typeface="Calibri"/>
              </a:rPr>
              <a:t>Key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1188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Calibri"/>
              </a:rPr>
              <a:t>MCP is an open protocol. The same way COMSOL talks to its own GUI,</a:t>
            </a:r>
          </a:p>
          <a:p>
            <a:pPr algn="l"/>
            <a:r>
              <a:rPr sz="1700" b="0">
                <a:solidFill>
                  <a:srgbClr val="202020"/>
                </a:solidFill>
                <a:latin typeface="Calibri"/>
              </a:rPr>
              <a:t>Claude now talks to COMSOL programmatically.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205B"/>
                </a:solidFill>
                <a:latin typeface="Calibri"/>
              </a:rPr>
              <a:t>Built on: wjc9011/COMSOL_Multiphysics_MCP  (open source, MIT license)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Calibri"/>
              </a:rPr>
              <a:t>We forked it and added the physics.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did we add that didn't exist before?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9728" cy="91440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1.  Physics-aware mesh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Detects reactor geometry automatically. Built a 388K-element mesh on Shelly 2D with boundary layers, zero hardcoded tags.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09728" cy="91440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2.  Analytic gas property bypass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Replaced COMSOL thermodynamics package with polynomial fits. Density exact, viscosity 3.5%, conductivity 2.4%. Change composition = 2 parameters, zero GUI clicks.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03320"/>
            <a:ext cx="109728" cy="91440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3.  Segregated solver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Replicates our 4-step solver setup: radiosity, flow, turbulence, wall functions. All programmatic.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109728" cy="91440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4.  Simulation-in-the-loop optimization (ARES-Sim)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Bayesian optimization on real FCCVD data finds Pareto-optimal CNT yield vs catalyst efficiency. CFD validates each candidate.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Validated on Our Own Reactors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5486400" cy="429768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What Claude set up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057400"/>
            <a:ext cx="128016" cy="128016"/>
          </a:xfrm>
          <a:prstGeom prst="ellipse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3D Shelly model, nonisothermal flow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651760"/>
            <a:ext cx="128016" cy="128016"/>
          </a:xfrm>
          <a:prstGeom prst="ellipse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5146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k-epsilon turbulence, S2S radiation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246120"/>
            <a:ext cx="128016" cy="128016"/>
          </a:xfrm>
          <a:prstGeom prst="ellipse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He / N2 / CH4 / H2 gas mixture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840480"/>
            <a:ext cx="128016" cy="128016"/>
          </a:xfrm>
          <a:prstGeom prst="ellipse">
            <a:avLst/>
          </a:prstGeom>
          <a:solidFill>
            <a:srgbClr val="C89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Solved in 32 min (270K tets, coarse mesh)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188720"/>
            <a:ext cx="5029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258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Key numbers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9202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3774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Re (inlet)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37744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5B"/>
                </a:solidFill>
                <a:latin typeface="Calibri"/>
              </a:rPr>
              <a:t>593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80360"/>
            <a:ext cx="5029200" cy="50292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8036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Ri (bulk)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8803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5B"/>
                </a:solidFill>
                <a:latin typeface="Calibri"/>
              </a:rPr>
              <a:t>0.48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38328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3832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T at cannula outlet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3832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5B"/>
                </a:solidFill>
                <a:latin typeface="Calibri"/>
              </a:rPr>
              <a:t>~700 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86200"/>
            <a:ext cx="5029200" cy="50292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862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Composition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88620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205B"/>
                </a:solidFill>
                <a:latin typeface="Calibri"/>
              </a:rPr>
              <a:t>0% He, 150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0AAAD"/>
                </a:solidFill>
                <a:latin typeface="Calibri"/>
              </a:rPr>
              <a:t>Same physics as our published CFD paper.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0205B"/>
                </a:solidFill>
                <a:latin typeface="Calibri"/>
              </a:rPr>
              <a:t>Matteo, this is our reactor. Claude built and solved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Finding Optimal CNT Synthesis Conditions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0AAAD"/>
                </a:solidFill>
                <a:latin typeface="Calibri"/>
              </a:rPr>
              <a:t>Pareto front from Bayesian optimization on real FCCVD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566160" cy="54864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High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205B"/>
                </a:solidFill>
                <a:latin typeface="Calibri"/>
              </a:rPr>
              <a:t>855 mg/hr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Y_Fe = 171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Shelly + 16 W plasma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5 mg/hr Fe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64592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645920"/>
            <a:ext cx="3566160" cy="548640"/>
          </a:xfrm>
          <a:prstGeom prst="rect">
            <a:avLst/>
          </a:prstGeom>
          <a:solidFill>
            <a:srgbClr val="A0A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6459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High 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23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205B"/>
                </a:solidFill>
                <a:latin typeface="Calibri"/>
              </a:rPr>
              <a:t>1191 mg/hr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3375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Y_Fe = 31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Shelly + 0 W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38 mg/hr 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1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Sweet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23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0205B"/>
                </a:solidFill>
                <a:latin typeface="Calibri"/>
              </a:rPr>
              <a:t>917 mg/hr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3756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Y_Fe = 70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Shelly + 23 W</a:t>
            </a:r>
          </a:p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13 mg/hr 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8911C"/>
                </a:solidFill>
                <a:latin typeface="Calibri"/>
              </a:rPr>
              <a:t>Sweet spot condition: NEVER TESTED experimentally.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The optimizer found a condition we never tried.</a:t>
            </a:r>
          </a:p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That is a testable prediction from our own experimental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Has This Been Done Before?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5166360" cy="6858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0" y="1280160"/>
            <a:ext cx="5166360" cy="68580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280160"/>
            <a:ext cx="5166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65960"/>
            <a:ext cx="5166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965960"/>
            <a:ext cx="5166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659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COMSOL scripting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5B"/>
                </a:solidFill>
                <a:latin typeface="Calibri"/>
              </a:rPr>
              <a:t>AI-driven tool calls (MCP protocol)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51760"/>
            <a:ext cx="5166360" cy="685800"/>
          </a:xfrm>
          <a:prstGeom prst="rect">
            <a:avLst/>
          </a:prstGeom>
          <a:solidFill>
            <a:srgbClr val="E8EAEB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651760"/>
            <a:ext cx="5166360" cy="685800"/>
          </a:xfrm>
          <a:prstGeom prst="rect">
            <a:avLst/>
          </a:prstGeom>
          <a:solidFill>
            <a:srgbClr val="E8EAEB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6517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Manual GUI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517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5B"/>
                </a:solidFill>
                <a:latin typeface="Calibri"/>
              </a:rPr>
              <a:t>Physics-aware automated mesh + solver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337560"/>
            <a:ext cx="5166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3337560"/>
            <a:ext cx="51663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3375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Fixed compositions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3375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5B"/>
                </a:solidFill>
                <a:latin typeface="Calibri"/>
              </a:rPr>
              <a:t>Analytic properties, any composition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023360"/>
            <a:ext cx="5166360" cy="685800"/>
          </a:xfrm>
          <a:prstGeom prst="rect">
            <a:avLst/>
          </a:prstGeom>
          <a:solidFill>
            <a:srgbClr val="E8EAEB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4023360"/>
            <a:ext cx="5166360" cy="685800"/>
          </a:xfrm>
          <a:prstGeom prst="rect">
            <a:avLst/>
          </a:prstGeom>
          <a:solidFill>
            <a:srgbClr val="E8EAEB"/>
          </a:solidFill>
          <a:ln w="9525">
            <a:solidFill>
              <a:srgbClr val="A0A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0233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Calibri"/>
              </a:rPr>
              <a:t>Trial-and-error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233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205B"/>
                </a:solidFill>
                <a:latin typeface="Calibri"/>
              </a:rPr>
              <a:t>Bayesian optimization + CFD bridge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No published MCP server exists for any commercial multiphysics platform.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We are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Two-Paper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5303520" cy="5029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TRACK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JOSS (Journal of Open Source Software)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~500 word paper +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71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In 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74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~4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Gives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977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Peer-reviewed DOI, citable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805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Established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Your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9834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Co-author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1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828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NeurIPS AI4Science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4688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468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4-page workshop 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971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Deadline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971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~July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474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474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First MCP server for multiphysics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977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Audience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9776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AI researchers, sci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Gives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4805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Visibility, ML credibility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9834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A0AAAD"/>
                </a:solidFill>
                <a:latin typeface="Calibri"/>
              </a:rPr>
              <a:t>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834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Full NeurIPS paper in 2027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0205B"/>
                </a:solidFill>
                <a:latin typeface="Calibri"/>
              </a:rPr>
              <a:t>JOSS first protects our priority. NeurIPS builds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Would a Chemical Engineer Publish at NeurIPS?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137160" cy="123444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205B"/>
                </a:solidFill>
                <a:latin typeface="Calibri"/>
              </a:rPr>
              <a:t>1.  It is happening already.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AlphaFold (DeepMind, Nature 2021) is structural biology at an ML venue.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Tools that enable science belong at AI venues.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37160" cy="123444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205B"/>
                </a:solidFill>
                <a:latin typeface="Calibri"/>
              </a:rPr>
              <a:t>2.  Our contribution IS software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We are not claiming a new reactor design.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We built a tool that accelerates simulation for any COMSOL user worldwide.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37160" cy="123444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205B"/>
                </a:solidFill>
                <a:latin typeface="Calibri"/>
              </a:rPr>
              <a:t>3.  Visibility equals citations equals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26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NeurIPS AI4Science draws the exact researchers building</a:t>
            </a:r>
          </a:p>
          <a:p>
            <a:pPr algn="l"/>
            <a:r>
              <a:rPr sz="1400" b="0">
                <a:solidFill>
                  <a:srgbClr val="202020"/>
                </a:solidFill>
                <a:latin typeface="Calibri"/>
              </a:rPr>
              <a:t>the next generation of self-driving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00205B"/>
                </a:solidFill>
                <a:latin typeface="Calibri"/>
              </a:rPr>
              <a:t>We publish the ChE science in ChE journals. We publish the tool at the tool 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Next Steps, Your Input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371600"/>
            <a:ext cx="9601200" cy="64008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137160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Co-author on JOSS paper (your name as senior author)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240280"/>
            <a:ext cx="9601200" cy="64008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22402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Approve use of SHELLY / TED reactor models as validation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108960"/>
            <a:ext cx="640080" cy="64008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3108960"/>
            <a:ext cx="9601200" cy="64008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10896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Green light for NeurIPS workshop submission after JOSS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89120"/>
            <a:ext cx="103327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2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6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8911C"/>
                </a:solidFill>
                <a:latin typeface="Calibri"/>
              </a:rPr>
              <a:t>This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Finalize GitHub repo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8911C"/>
                </a:solidFill>
                <a:latin typeface="Calibri"/>
              </a:rPr>
              <a:t>Next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257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JOSS 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8911C"/>
                </a:solidFill>
                <a:latin typeface="Calibri"/>
              </a:rPr>
              <a:t>July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577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NeurIPS AI4Science deadline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8978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C8911C"/>
                </a:solidFill>
                <a:latin typeface="Calibri"/>
              </a:rPr>
              <a:t>Post-defense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897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Calibri"/>
              </a:rPr>
              <a:t>Full NeurIPS paper (2027)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Built, 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A0AAAD"/>
                </a:solidFill>
                <a:latin typeface="Calibri"/>
              </a:rPr>
              <a:t>Pasquali Group  |  Rice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A0AAAD"/>
                </a:solidFill>
                <a:latin typeface="Calibri"/>
              </a:rPr>
              <a:t>12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137160" cy="82296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258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First MCP server for COMSOL Multiphysics,</a:t>
            </a:r>
          </a:p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validated on our CNT reactors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137160" cy="82296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231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Reduces simulation setup from hours to minutes,</a:t>
            </a:r>
          </a:p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any composition, zero GUI clicks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611879"/>
            <a:ext cx="137160" cy="822960"/>
          </a:xfrm>
          <a:prstGeom prst="rect">
            <a:avLst/>
          </a:prstGeom>
          <a:solidFill>
            <a:srgbClr val="C89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39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Opens a path to AI-driven self-driving labs</a:t>
            </a:r>
          </a:p>
          <a:p>
            <a:pPr algn="l"/>
            <a:r>
              <a:rPr sz="1800" b="1">
                <a:solidFill>
                  <a:srgbClr val="00205B"/>
                </a:solidFill>
                <a:latin typeface="Calibri"/>
              </a:rPr>
              <a:t>grounded in real multiphysics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The tool exists. The results are real.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Let us publish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